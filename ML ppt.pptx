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4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</p:sldIdLst>
  <p:sldSz cx="9144000" cy="5143500" type="screen16x9"/>
  <p:notesSz cx="6858000" cy="9144000"/>
  <p:embeddedFontLst>
    <p:embeddedFont>
      <p:font typeface="Century Schoolbook" panose="02040604050505020304" pitchFamily="18" charset="0"/>
      <p:regular r:id="rId15"/>
      <p:bold r:id="rId16"/>
      <p:italic r:id="rId17"/>
      <p:boldItalic r:id="rId18"/>
    </p:embeddedFont>
    <p:embeddedFont>
      <p:font typeface="Poppins Medium" panose="000006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FFA7C9-6B04-497C-B829-D6BFFDC60920}">
  <a:tblStyle styleId="{44FFA7C9-6B04-497C-B829-D6BFFDC60920}" styleName="Table_0">
    <a:wholeTbl>
      <a:tcTxStyle b="off" i="off">
        <a:font>
          <a:latin typeface="Century Schoolbook"/>
          <a:ea typeface="Century Schoolbook"/>
          <a:cs typeface="Century Schoolbook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/>
      <a:tcStyle>
        <a:tcBdr/>
        <a:fill>
          <a:solidFill>
            <a:srgbClr val="EFCE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FCE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71fff564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671fff564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847d08627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6847d08627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847d08627_5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6847d08627_5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847d08627_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6847d08627_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847d08627_5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6847d08627_5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a4831ad3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8a4831ad3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870228503_0_1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870228503_0_1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969b639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969b639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847d08627_5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6847d08627_5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a4831ad3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8a4831ad3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847d08627_5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6847d08627_5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946404" y="569214"/>
            <a:ext cx="7063800" cy="30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Schoolbook"/>
              <a:buNone/>
              <a:defRPr sz="5400" b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946404" y="3600450"/>
            <a:ext cx="7063800" cy="12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SzPts val="13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rgbClr val="BDB1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946404" y="196795"/>
            <a:ext cx="7269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946404" y="1371600"/>
            <a:ext cx="6446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5pPr>
            <a:lvl6pPr marL="2743200" lvl="5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6pPr>
            <a:lvl7pPr marL="3200400" lvl="6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8pPr>
            <a:lvl9pPr marL="4114800" lvl="8" indent="-3175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946404" y="569214"/>
            <a:ext cx="7063800" cy="30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entury Schoolbook"/>
              <a:buNone/>
              <a:defRPr sz="5400" b="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946404" y="3600450"/>
            <a:ext cx="7063800" cy="12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SzPts val="1300"/>
              <a:buNone/>
              <a:defRPr sz="17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946404" y="196795"/>
            <a:ext cx="7269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946404" y="1371600"/>
            <a:ext cx="3360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500"/>
            </a:lvl1pPr>
            <a:lvl2pPr marL="914400" lvl="1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2pPr>
            <a:lvl3pPr marL="1371600" lvl="2" indent="-30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5pPr>
            <a:lvl6pPr marL="2743200" lvl="5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●"/>
              <a:defRPr sz="11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2"/>
          </p:nvPr>
        </p:nvSpPr>
        <p:spPr>
          <a:xfrm>
            <a:off x="4594860" y="1371600"/>
            <a:ext cx="3360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500"/>
            </a:lvl1pPr>
            <a:lvl2pPr marL="914400" lvl="1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2pPr>
            <a:lvl3pPr marL="1371600" lvl="2" indent="-30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5pPr>
            <a:lvl6pPr marL="2743200" lvl="5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●"/>
              <a:defRPr sz="1100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946404" y="196795"/>
            <a:ext cx="7269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946404" y="1291205"/>
            <a:ext cx="3360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2"/>
          </p:nvPr>
        </p:nvSpPr>
        <p:spPr>
          <a:xfrm>
            <a:off x="946404" y="1880663"/>
            <a:ext cx="3360300" cy="27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SzPts val="1100"/>
              <a:buChar char="•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3pPr>
            <a:lvl4pPr marL="1828800" lvl="3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5pPr>
            <a:lvl6pPr marL="2743200" lvl="5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●"/>
              <a:defRPr sz="1100"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3"/>
          </p:nvPr>
        </p:nvSpPr>
        <p:spPr>
          <a:xfrm>
            <a:off x="4594860" y="1291205"/>
            <a:ext cx="3360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 b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4"/>
          </p:nvPr>
        </p:nvSpPr>
        <p:spPr>
          <a:xfrm>
            <a:off x="4594860" y="1880663"/>
            <a:ext cx="3360300" cy="27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SzPts val="1100"/>
              <a:buChar char="•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3pPr>
            <a:lvl4pPr marL="1828800" lvl="3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5pPr>
            <a:lvl6pPr marL="2743200" lvl="5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●"/>
              <a:defRPr sz="1100"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946404" y="196795"/>
            <a:ext cx="7269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400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Schoolbook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3378200" y="514350"/>
            <a:ext cx="4559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500"/>
            </a:lvl1pPr>
            <a:lvl2pPr marL="914400" lvl="1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2pPr>
            <a:lvl3pPr marL="1371600" lvl="2" indent="-30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5pPr>
            <a:lvl6pPr marL="2743200" lvl="5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●"/>
              <a:defRPr sz="1100"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2"/>
          </p:nvPr>
        </p:nvSpPr>
        <p:spPr>
          <a:xfrm>
            <a:off x="630936" y="1574800"/>
            <a:ext cx="24003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/>
          <p:nvPr/>
        </p:nvSpPr>
        <p:spPr>
          <a:xfrm>
            <a:off x="0" y="3829050"/>
            <a:ext cx="8469600" cy="1314600"/>
          </a:xfrm>
          <a:prstGeom prst="rect">
            <a:avLst/>
          </a:prstGeom>
          <a:solidFill>
            <a:srgbClr val="9E361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685800" y="3943350"/>
            <a:ext cx="7486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Schoolbook"/>
              <a:buNone/>
              <a:defRPr sz="21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>
            <a:spLocks noGrp="1"/>
          </p:cNvSpPr>
          <p:nvPr>
            <p:ph type="pic" idx="2"/>
          </p:nvPr>
        </p:nvSpPr>
        <p:spPr>
          <a:xfrm>
            <a:off x="0" y="0"/>
            <a:ext cx="8469600" cy="38466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685800" y="4581442"/>
            <a:ext cx="74865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FAD8C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946404" y="196795"/>
            <a:ext cx="7269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 rot="5400000">
            <a:off x="2538024" y="-219900"/>
            <a:ext cx="3263400" cy="6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5pPr>
            <a:lvl6pPr marL="2743200" lvl="5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6pPr>
            <a:lvl7pPr marL="3200400" lvl="6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8pPr>
            <a:lvl9pPr marL="4114800" lvl="8" indent="-3175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 rot="5400000">
            <a:off x="5203650" y="1568700"/>
            <a:ext cx="4423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 rot="5400000">
            <a:off x="1260225" y="-403050"/>
            <a:ext cx="44232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5pPr>
            <a:lvl6pPr marL="2743200" lvl="5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6pPr>
            <a:lvl7pPr marL="3200400" lvl="6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8pPr>
            <a:lvl9pPr marL="4114800" lvl="8" indent="-3175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946404" y="196795"/>
            <a:ext cx="7269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entury Schoolbook"/>
              <a:buNone/>
              <a:defRPr sz="3300" b="1" i="0" u="none" strike="noStrike" cap="none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946404" y="1371600"/>
            <a:ext cx="6446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0480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rgbClr val="595959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rgbClr val="595959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●"/>
              <a:defRPr sz="1100" b="0" i="0" u="none" strike="noStrike" cap="none">
                <a:solidFill>
                  <a:srgbClr val="595959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●"/>
              <a:defRPr sz="1100" b="0" i="0" u="none" strike="noStrike" cap="none">
                <a:solidFill>
                  <a:srgbClr val="595959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●"/>
              <a:defRPr sz="1100" b="0" i="0" u="none" strike="noStrike" cap="none">
                <a:solidFill>
                  <a:srgbClr val="595959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●"/>
              <a:defRPr sz="1100" b="0" i="0" u="none" strike="noStrike" cap="none">
                <a:solidFill>
                  <a:srgbClr val="595959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●"/>
              <a:defRPr sz="1100" b="0" i="0" u="none" strike="noStrike" cap="none">
                <a:solidFill>
                  <a:srgbClr val="595959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29845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100"/>
              <a:buFont typeface="Noto Sans Symbols"/>
              <a:buChar char="●"/>
              <a:defRPr sz="1100" b="0" i="0" u="none" strike="noStrike" cap="none">
                <a:solidFill>
                  <a:srgbClr val="595959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 rot="-5400000">
            <a:off x="8098259" y="748949"/>
            <a:ext cx="1428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C3C0C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 rot="-5400000">
            <a:off x="7469609" y="3034950"/>
            <a:ext cx="268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C3C0C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buNone/>
              <a:defRPr sz="2700" b="0" i="0" u="none" strike="noStrike" cap="none">
                <a:solidFill>
                  <a:srgbClr val="A5A1A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spcBef>
                <a:spcPts val="0"/>
              </a:spcBef>
              <a:buNone/>
              <a:defRPr sz="2700" b="0" i="0" u="none" strike="noStrike" cap="none">
                <a:solidFill>
                  <a:srgbClr val="A5A1A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spcBef>
                <a:spcPts val="0"/>
              </a:spcBef>
              <a:buNone/>
              <a:defRPr sz="2700" b="0" i="0" u="none" strike="noStrike" cap="none">
                <a:solidFill>
                  <a:srgbClr val="A5A1A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spcBef>
                <a:spcPts val="0"/>
              </a:spcBef>
              <a:buNone/>
              <a:defRPr sz="2700" b="0" i="0" u="none" strike="noStrike" cap="none">
                <a:solidFill>
                  <a:srgbClr val="A5A1A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spcBef>
                <a:spcPts val="0"/>
              </a:spcBef>
              <a:buNone/>
              <a:defRPr sz="2700" b="0" i="0" u="none" strike="noStrike" cap="none">
                <a:solidFill>
                  <a:srgbClr val="A5A1A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spcBef>
                <a:spcPts val="0"/>
              </a:spcBef>
              <a:buNone/>
              <a:defRPr sz="2700" b="0" i="0" u="none" strike="noStrike" cap="none">
                <a:solidFill>
                  <a:srgbClr val="A5A1A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spcBef>
                <a:spcPts val="0"/>
              </a:spcBef>
              <a:buNone/>
              <a:defRPr sz="2700" b="0" i="0" u="none" strike="noStrike" cap="none">
                <a:solidFill>
                  <a:srgbClr val="A5A1A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spcBef>
                <a:spcPts val="0"/>
              </a:spcBef>
              <a:buNone/>
              <a:defRPr sz="2700" b="0" i="0" u="none" strike="noStrike" cap="none">
                <a:solidFill>
                  <a:srgbClr val="A5A1A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spcBef>
                <a:spcPts val="0"/>
              </a:spcBef>
              <a:buNone/>
              <a:defRPr sz="2700" b="0" i="0" u="none" strike="noStrike" cap="none">
                <a:solidFill>
                  <a:srgbClr val="A5A1A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541050" y="115500"/>
            <a:ext cx="8061900" cy="1415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20575" rIns="68575" bIns="34275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 dirty="0">
                <a:latin typeface="Times New Roman"/>
                <a:ea typeface="Times New Roman"/>
                <a:cs typeface="Times New Roman"/>
                <a:sym typeface="Times New Roman"/>
              </a:rPr>
              <a:t>CLUSTER VISION</a:t>
            </a:r>
            <a:endParaRPr sz="14600" dirty="0"/>
          </a:p>
        </p:txBody>
      </p:sp>
      <p:sp>
        <p:nvSpPr>
          <p:cNvPr id="135" name="Google Shape;135;p25"/>
          <p:cNvSpPr txBox="1">
            <a:spLocks noGrp="1"/>
          </p:cNvSpPr>
          <p:nvPr>
            <p:ph type="subTitle" idx="1"/>
          </p:nvPr>
        </p:nvSpPr>
        <p:spPr>
          <a:xfrm>
            <a:off x="2086356" y="2201682"/>
            <a:ext cx="4800600" cy="1626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300"/>
              <a:buNone/>
            </a:pPr>
            <a:r>
              <a:rPr lang="en-GB" dirty="0"/>
              <a:t>Student Name: Shylendhar M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300"/>
              <a:buNone/>
            </a:pPr>
            <a:r>
              <a:rPr lang="en-GB" dirty="0"/>
              <a:t>Register Number: 2117240070306</a:t>
            </a:r>
          </a:p>
          <a:p>
            <a:pPr marL="0" lvl="0" indent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300"/>
              <a:buNone/>
            </a:pPr>
            <a:r>
              <a:rPr lang="en-GB" dirty="0"/>
              <a:t>Faculty In-charge: Ms. Fouzia </a:t>
            </a:r>
            <a:r>
              <a:rPr lang="en-GB" dirty="0" err="1"/>
              <a:t>Sulthana</a:t>
            </a:r>
            <a:r>
              <a:rPr lang="en-GB" dirty="0"/>
              <a:t> K</a:t>
            </a:r>
          </a:p>
          <a:p>
            <a:pPr marL="0" lvl="0" indent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300"/>
              <a:buNone/>
            </a:pPr>
            <a:r>
              <a:rPr lang="en-GB" dirty="0"/>
              <a:t>Subject: Machine Learning </a:t>
            </a:r>
          </a:p>
          <a:p>
            <a:pPr marL="0" lvl="0" indent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300"/>
              <a:buNone/>
            </a:pPr>
            <a:r>
              <a:rPr lang="en-GB" dirty="0"/>
              <a:t>Subject Code: AL23421</a:t>
            </a:r>
          </a:p>
          <a:p>
            <a:pPr marL="0" lvl="0" indent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300"/>
              <a:buNone/>
            </a:pPr>
            <a:endParaRPr dirty="0"/>
          </a:p>
        </p:txBody>
      </p:sp>
      <p:pic>
        <p:nvPicPr>
          <p:cNvPr id="137" name="Google Shape;137;p25" title="2NXUWJqJ_400x400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5425" y="4102475"/>
            <a:ext cx="956325" cy="95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7"/>
          <p:cNvGraphicFramePr/>
          <p:nvPr/>
        </p:nvGraphicFramePr>
        <p:xfrm>
          <a:off x="289692" y="333714"/>
          <a:ext cx="4471425" cy="551117"/>
        </p:xfrm>
        <a:graphic>
          <a:graphicData uri="http://schemas.openxmlformats.org/drawingml/2006/table">
            <a:tbl>
              <a:tblPr bandRow="1">
                <a:noFill/>
                <a:tableStyleId>{44FFA7C9-6B04-497C-B829-D6BFFDC60920}</a:tableStyleId>
              </a:tblPr>
              <a:tblGrid>
                <a:gridCol w="447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0775">
                <a:tc>
                  <a:txBody>
                    <a:bodyPr/>
                    <a:lstStyle/>
                    <a:p>
                      <a:pPr marL="0" marR="0" lvl="0" indent="127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3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 Introduction</a:t>
                      </a:r>
                      <a:endParaRPr sz="33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51425" marR="514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E3227FA-7F1B-7C5B-19A5-08EBEC353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08" y="1574259"/>
            <a:ext cx="839315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In today’s digital world, businesses generate large volumes of customer data, but extracting meaningful insights from it remains a challenge. Cluster Vision is designed to bridge this gap by applying machine learning techniques to analyze and segment customers effectively.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The project integrates data processing, clustering algorithms, and an interactive web interface to provide clear visual insights.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Schoolbook" panose="020406040505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It enables businesses to understand customer behavior without requiring technical expertise. Ultimately, it supports data-driven decision-making and improves marketing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Google Shape;156;p28"/>
          <p:cNvGraphicFramePr/>
          <p:nvPr>
            <p:extLst>
              <p:ext uri="{D42A27DB-BD31-4B8C-83A1-F6EECF244321}">
                <p14:modId xmlns:p14="http://schemas.microsoft.com/office/powerpoint/2010/main" val="3150521846"/>
              </p:ext>
            </p:extLst>
          </p:nvPr>
        </p:nvGraphicFramePr>
        <p:xfrm>
          <a:off x="289692" y="333714"/>
          <a:ext cx="4983900" cy="551117"/>
        </p:xfrm>
        <a:graphic>
          <a:graphicData uri="http://schemas.openxmlformats.org/drawingml/2006/table">
            <a:tbl>
              <a:tblPr bandRow="1">
                <a:noFill/>
                <a:tableStyleId>{44FFA7C9-6B04-497C-B829-D6BFFDC60920}</a:tableStyleId>
              </a:tblPr>
              <a:tblGrid>
                <a:gridCol w="498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0775">
                <a:tc>
                  <a:txBody>
                    <a:bodyPr/>
                    <a:lstStyle/>
                    <a:p>
                      <a:pPr marL="0" marR="0" lvl="0" indent="127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3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Problem Statement</a:t>
                      </a:r>
                      <a:endParaRPr sz="33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51425" marR="514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7" name="Google Shape;157;p28"/>
          <p:cNvSpPr txBox="1"/>
          <p:nvPr/>
        </p:nvSpPr>
        <p:spPr>
          <a:xfrm>
            <a:off x="215599" y="1316675"/>
            <a:ext cx="8177551" cy="30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entury Schoolbook" panose="02040604050505020304" pitchFamily="18" charset="0"/>
              </a:rPr>
              <a:t>Businesses collect large amounts of customer data but struggle to extract meaningful insights from it.</a:t>
            </a:r>
            <a:br>
              <a:rPr lang="en-US" dirty="0">
                <a:latin typeface="Century Schoolbook" panose="02040604050505020304" pitchFamily="18" charset="0"/>
              </a:rPr>
            </a:br>
            <a:r>
              <a:rPr lang="en-US" dirty="0">
                <a:latin typeface="Century Schoolbook" panose="02040604050505020304" pitchFamily="18" charset="0"/>
              </a:rPr>
              <a:t>Without proper segmentation, they rely on generic marketing strategies that fail to address diverse customer needs.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br>
              <a:rPr lang="en-US" dirty="0">
                <a:latin typeface="Century Schoolbook" panose="02040604050505020304" pitchFamily="18" charset="0"/>
              </a:rPr>
            </a:br>
            <a:r>
              <a:rPr lang="en-US" dirty="0">
                <a:latin typeface="Century Schoolbook" panose="02040604050505020304" pitchFamily="18" charset="0"/>
              </a:rPr>
              <a:t>This leads to poor customer engagement, inefficient resource use, and missed revenue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29"/>
          <p:cNvGraphicFramePr/>
          <p:nvPr>
            <p:extLst>
              <p:ext uri="{D42A27DB-BD31-4B8C-83A1-F6EECF244321}">
                <p14:modId xmlns:p14="http://schemas.microsoft.com/office/powerpoint/2010/main" val="721894495"/>
              </p:ext>
            </p:extLst>
          </p:nvPr>
        </p:nvGraphicFramePr>
        <p:xfrm>
          <a:off x="297392" y="333714"/>
          <a:ext cx="6242400" cy="500775"/>
        </p:xfrm>
        <a:graphic>
          <a:graphicData uri="http://schemas.openxmlformats.org/drawingml/2006/table">
            <a:tbl>
              <a:tblPr bandRow="1">
                <a:noFill/>
                <a:tableStyleId>{44FFA7C9-6B04-497C-B829-D6BFFDC60920}</a:tableStyleId>
              </a:tblPr>
              <a:tblGrid>
                <a:gridCol w="62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0775">
                <a:tc>
                  <a:txBody>
                    <a:bodyPr/>
                    <a:lstStyle/>
                    <a:p>
                      <a:pPr marL="0" marR="0" lvl="0" indent="127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 GOAL</a:t>
                      </a:r>
                      <a:endParaRPr sz="29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51425" marR="5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D44A012-15B3-BE1A-D925-C02F67D2C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92" y="1336224"/>
            <a:ext cx="79857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The goal of this project is to develop an automated customer segmentation system using machine learning techniques.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It applies K-Means clustering along with Silhouette Score to identify the optimal number of customer groups.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The system aims to analyze customer data and classify them based on income and spending behavior.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It provides an interactive dashboard to visualize the clusters in a simple and understandable way. Ultimately, it helps businesses make data-driven decisions without requiring technical expertise.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Google Shape;174;p30"/>
          <p:cNvGraphicFramePr/>
          <p:nvPr>
            <p:extLst>
              <p:ext uri="{D42A27DB-BD31-4B8C-83A1-F6EECF244321}">
                <p14:modId xmlns:p14="http://schemas.microsoft.com/office/powerpoint/2010/main" val="3761087709"/>
              </p:ext>
            </p:extLst>
          </p:nvPr>
        </p:nvGraphicFramePr>
        <p:xfrm>
          <a:off x="297392" y="333714"/>
          <a:ext cx="6242400" cy="500775"/>
        </p:xfrm>
        <a:graphic>
          <a:graphicData uri="http://schemas.openxmlformats.org/drawingml/2006/table">
            <a:tbl>
              <a:tblPr bandRow="1">
                <a:noFill/>
                <a:tableStyleId>{44FFA7C9-6B04-497C-B829-D6BFFDC60920}</a:tableStyleId>
              </a:tblPr>
              <a:tblGrid>
                <a:gridCol w="62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0775">
                <a:tc>
                  <a:txBody>
                    <a:bodyPr/>
                    <a:lstStyle/>
                    <a:p>
                      <a:pPr marL="0" marR="0" lvl="0" indent="127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KEY CONCEPTS</a:t>
                      </a:r>
                      <a:endParaRPr sz="27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51425" marR="5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5" name="Google Shape;175;p30"/>
          <p:cNvSpPr txBox="1"/>
          <p:nvPr/>
        </p:nvSpPr>
        <p:spPr>
          <a:xfrm>
            <a:off x="258899" y="1062600"/>
            <a:ext cx="7732807" cy="30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>
              <a:buClr>
                <a:srgbClr val="434343"/>
              </a:buClr>
              <a:buSzPts val="1700"/>
              <a:buFont typeface="Wingdings" panose="05000000000000000000" pitchFamily="2" charset="2"/>
              <a:buChar char="v"/>
            </a:pPr>
            <a:r>
              <a:rPr lang="en-US" dirty="0">
                <a:latin typeface="Century Schoolbook" panose="02040604050505020304" pitchFamily="18" charset="0"/>
              </a:rPr>
              <a:t>Customer segmentation is the process of dividing customers into groups based on similar characteristics to better understand their behavior. </a:t>
            </a:r>
          </a:p>
          <a:p>
            <a:pPr marL="457200" lvl="0" indent="-336550">
              <a:buClr>
                <a:srgbClr val="434343"/>
              </a:buClr>
              <a:buSzPts val="1700"/>
              <a:buFont typeface="Wingdings" panose="05000000000000000000" pitchFamily="2" charset="2"/>
              <a:buChar char="v"/>
            </a:pPr>
            <a:r>
              <a:rPr lang="en-US" dirty="0">
                <a:latin typeface="Century Schoolbook" panose="02040604050505020304" pitchFamily="18" charset="0"/>
              </a:rPr>
              <a:t>K-Means clustering is an unsupervised machine learning algorithm that groups data into clusters by minimizing the distance between data points and their cluster centers.</a:t>
            </a:r>
          </a:p>
          <a:p>
            <a:pPr marL="457200" lvl="0" indent="-336550">
              <a:buClr>
                <a:srgbClr val="434343"/>
              </a:buClr>
              <a:buSzPts val="1700"/>
              <a:buFont typeface="Wingdings" panose="05000000000000000000" pitchFamily="2" charset="2"/>
              <a:buChar char="v"/>
            </a:pPr>
            <a:r>
              <a:rPr lang="en-US" dirty="0">
                <a:latin typeface="Century Schoolbook" panose="02040604050505020304" pitchFamily="18" charset="0"/>
              </a:rPr>
              <a:t> The Silhouette Score is used to evaluate clustering quality and determine the optimal number of clusters. </a:t>
            </a:r>
          </a:p>
          <a:p>
            <a:pPr marL="457200" lvl="0" indent="-336550">
              <a:buClr>
                <a:srgbClr val="434343"/>
              </a:buClr>
              <a:buSzPts val="1700"/>
              <a:buFont typeface="Poppins Medium"/>
              <a:buChar char="●"/>
            </a:pPr>
            <a:endParaRPr lang="en-US" dirty="0"/>
          </a:p>
          <a:p>
            <a:pPr marL="457200" lvl="0" indent="-336550">
              <a:buClr>
                <a:srgbClr val="434343"/>
              </a:buClr>
              <a:buSzPts val="1700"/>
              <a:buFont typeface="Poppins Medium"/>
              <a:buChar char="●"/>
            </a:pPr>
            <a:endParaRPr lang="en-US" dirty="0"/>
          </a:p>
          <a:p>
            <a:pPr marL="120650" lvl="0">
              <a:buClr>
                <a:srgbClr val="434343"/>
              </a:buClr>
              <a:buSzPts val="1700"/>
            </a:pPr>
            <a:r>
              <a:rPr lang="en-US" dirty="0">
                <a:latin typeface="Century Schoolbook" panose="02040604050505020304" pitchFamily="18" charset="0"/>
              </a:rPr>
              <a:t>Together, these concepts enable effective analysis and meaningful grouping of customer data.</a:t>
            </a:r>
            <a:endParaRPr dirty="0">
              <a:solidFill>
                <a:srgbClr val="434343"/>
              </a:solidFill>
              <a:latin typeface="Century Schoolbook" panose="02040604050505020304" pitchFamily="18" charset="0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Google Shape;182;p31"/>
          <p:cNvGraphicFramePr/>
          <p:nvPr>
            <p:extLst>
              <p:ext uri="{D42A27DB-BD31-4B8C-83A1-F6EECF244321}">
                <p14:modId xmlns:p14="http://schemas.microsoft.com/office/powerpoint/2010/main" val="1556840171"/>
              </p:ext>
            </p:extLst>
          </p:nvPr>
        </p:nvGraphicFramePr>
        <p:xfrm>
          <a:off x="297392" y="333714"/>
          <a:ext cx="6242400" cy="500775"/>
        </p:xfrm>
        <a:graphic>
          <a:graphicData uri="http://schemas.openxmlformats.org/drawingml/2006/table">
            <a:tbl>
              <a:tblPr bandRow="1">
                <a:noFill/>
                <a:tableStyleId>{44FFA7C9-6B04-497C-B829-D6BFFDC60920}</a:tableStyleId>
              </a:tblPr>
              <a:tblGrid>
                <a:gridCol w="62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0775">
                <a:tc>
                  <a:txBody>
                    <a:bodyPr/>
                    <a:lstStyle/>
                    <a:p>
                      <a:pPr marL="0" marR="0" lvl="0" indent="127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DATASET AND FEATURES</a:t>
                      </a:r>
                      <a:endParaRPr sz="27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51425" marR="5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3" name="Google Shape;183;p31"/>
          <p:cNvSpPr txBox="1"/>
          <p:nvPr/>
        </p:nvSpPr>
        <p:spPr>
          <a:xfrm>
            <a:off x="2540234" y="1318412"/>
            <a:ext cx="7999115" cy="30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Century Schoolbook" panose="02040604050505020304" pitchFamily="18" charset="0"/>
              </a:rPr>
              <a:t>Dataset &amp; Features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Century Schoolbook" panose="02040604050505020304" pitchFamily="18" charset="0"/>
              </a:rPr>
              <a:t>Dataset:</a:t>
            </a:r>
            <a:r>
              <a:rPr lang="en-US" dirty="0">
                <a:latin typeface="Century Schoolbook" panose="02040604050505020304" pitchFamily="18" charset="0"/>
              </a:rPr>
              <a:t> </a:t>
            </a:r>
          </a:p>
          <a:p>
            <a:r>
              <a:rPr lang="en-US" dirty="0">
                <a:latin typeface="Century Schoolbook" panose="02040604050505020304" pitchFamily="18" charset="0"/>
              </a:rPr>
              <a:t>	Mall_Customers.csv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Century Schoolbook" panose="02040604050505020304" pitchFamily="18" charset="0"/>
              </a:rPr>
              <a:t>Samples:</a:t>
            </a:r>
            <a:r>
              <a:rPr lang="en-US" dirty="0">
                <a:latin typeface="Century Schoolbook" panose="02040604050505020304" pitchFamily="18" charset="0"/>
              </a:rPr>
              <a:t> ~200 customers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Century Schoolbook" panose="02040604050505020304" pitchFamily="18" charset="0"/>
              </a:rPr>
              <a:t>Features Used:</a:t>
            </a:r>
            <a:r>
              <a:rPr lang="en-US" dirty="0">
                <a:latin typeface="Century Schoolbook" panose="02040604050505020304" pitchFamily="18" charset="0"/>
              </a:rPr>
              <a:t> </a:t>
            </a:r>
          </a:p>
          <a:p>
            <a:pPr lvl="1"/>
            <a:r>
              <a:rPr lang="en-US" dirty="0"/>
              <a:t>	</a:t>
            </a:r>
            <a:r>
              <a:rPr lang="en-US" dirty="0">
                <a:latin typeface="Century Schoolbook" panose="02040604050505020304" pitchFamily="18" charset="0"/>
              </a:rPr>
              <a:t>Annual Income </a:t>
            </a:r>
          </a:p>
          <a:p>
            <a:pPr lvl="1"/>
            <a:r>
              <a:rPr lang="en-US" dirty="0">
                <a:latin typeface="Century Schoolbook" panose="02040604050505020304" pitchFamily="18" charset="0"/>
              </a:rPr>
              <a:t>	Spending Score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Century Schoolbook" panose="02040604050505020304" pitchFamily="18" charset="0"/>
              </a:rPr>
              <a:t>Output</a:t>
            </a:r>
            <a:r>
              <a:rPr lang="en-US" dirty="0">
                <a:latin typeface="Century Schoolbook" panose="02040604050505020304" pitchFamily="18" charset="0"/>
              </a:rPr>
              <a:t>: Cluster labels (5 groups)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43434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4175F6-FA62-8A11-7B3A-CA43C30D4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86" y="565042"/>
            <a:ext cx="5943600" cy="28536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8389E7-D54B-F4BE-5601-92D251558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717" y="824416"/>
            <a:ext cx="59436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Google Shape;203;p34"/>
          <p:cNvGraphicFramePr/>
          <p:nvPr>
            <p:extLst>
              <p:ext uri="{D42A27DB-BD31-4B8C-83A1-F6EECF244321}">
                <p14:modId xmlns:p14="http://schemas.microsoft.com/office/powerpoint/2010/main" val="3633744066"/>
              </p:ext>
            </p:extLst>
          </p:nvPr>
        </p:nvGraphicFramePr>
        <p:xfrm>
          <a:off x="297392" y="333714"/>
          <a:ext cx="5382300" cy="501015"/>
        </p:xfrm>
        <a:graphic>
          <a:graphicData uri="http://schemas.openxmlformats.org/drawingml/2006/table">
            <a:tbl>
              <a:tblPr bandRow="1">
                <a:noFill/>
                <a:tableStyleId>{44FFA7C9-6B04-497C-B829-D6BFFDC60920}</a:tableStyleId>
              </a:tblPr>
              <a:tblGrid>
                <a:gridCol w="538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0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 RESULT</a:t>
                      </a:r>
                      <a:endParaRPr sz="30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51425" marR="5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6" name="Google Shape;206;p34"/>
          <p:cNvSpPr txBox="1"/>
          <p:nvPr/>
        </p:nvSpPr>
        <p:spPr>
          <a:xfrm>
            <a:off x="6099500" y="4710500"/>
            <a:ext cx="18249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👆 Figma Design</a:t>
            </a:r>
            <a:endParaRPr sz="1300">
              <a:solidFill>
                <a:srgbClr val="595959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5DD0CD-EAF9-D099-BE1B-246C77F39A4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41503" y="1664562"/>
            <a:ext cx="4683512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Optimal clusters found: K = 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Customer segments: </a:t>
            </a:r>
          </a:p>
          <a:p>
            <a:pPr marL="285750" lvl="5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High Income, High Spending → Target customers </a:t>
            </a:r>
          </a:p>
          <a:p>
            <a:pPr marL="285750" lvl="3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Low Income, High Spending → Impulsive buyers </a:t>
            </a:r>
          </a:p>
          <a:p>
            <a:pPr marL="285750" lvl="3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High Income, Low Spending → Savers </a:t>
            </a:r>
          </a:p>
          <a:p>
            <a:pPr marL="285750" lvl="3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Low Income, Low Spending → Budget customers </a:t>
            </a:r>
          </a:p>
          <a:p>
            <a:pPr marL="285750" lvl="3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Average → Standard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" name="Google Shape;211;p35"/>
          <p:cNvGraphicFramePr/>
          <p:nvPr>
            <p:extLst>
              <p:ext uri="{D42A27DB-BD31-4B8C-83A1-F6EECF244321}">
                <p14:modId xmlns:p14="http://schemas.microsoft.com/office/powerpoint/2010/main" val="572426978"/>
              </p:ext>
            </p:extLst>
          </p:nvPr>
        </p:nvGraphicFramePr>
        <p:xfrm>
          <a:off x="297392" y="333714"/>
          <a:ext cx="7714475" cy="501015"/>
        </p:xfrm>
        <a:graphic>
          <a:graphicData uri="http://schemas.openxmlformats.org/drawingml/2006/table">
            <a:tbl>
              <a:tblPr bandRow="1">
                <a:noFill/>
                <a:tableStyleId>{44FFA7C9-6B04-497C-B829-D6BFFDC60920}</a:tableStyleId>
              </a:tblPr>
              <a:tblGrid>
                <a:gridCol w="771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0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 dirty="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CONCLUSION AND FEATURE WORK</a:t>
                      </a:r>
                      <a:endParaRPr sz="3000" dirty="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51425" marR="5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2DE5E74-126A-6382-8816-7E5ED574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595" y="1374488"/>
            <a:ext cx="618521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Schoolbook" panose="020406040505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Successfully automated customer segmentation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Clear visualization of customer groups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Applications: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Targeted marketing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Personalized offers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Future Enhancements: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Add more features (age, location)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Use advanced ML models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Deploy as a scalable web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40"/>
          <p:cNvGraphicFramePr/>
          <p:nvPr/>
        </p:nvGraphicFramePr>
        <p:xfrm>
          <a:off x="297392" y="333714"/>
          <a:ext cx="6662350" cy="551117"/>
        </p:xfrm>
        <a:graphic>
          <a:graphicData uri="http://schemas.openxmlformats.org/drawingml/2006/table">
            <a:tbl>
              <a:tblPr bandRow="1">
                <a:noFill/>
                <a:tableStyleId>{44FFA7C9-6B04-497C-B829-D6BFFDC60920}</a:tableStyleId>
              </a:tblPr>
              <a:tblGrid>
                <a:gridCol w="666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0775">
                <a:tc>
                  <a:txBody>
                    <a:bodyPr/>
                    <a:lstStyle/>
                    <a:p>
                      <a:pPr marL="0" lvl="0" indent="127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3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References</a:t>
                      </a:r>
                      <a:endParaRPr sz="29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L="51425" marR="5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9" name="Google Shape;259;p40"/>
          <p:cNvSpPr txBox="1"/>
          <p:nvPr/>
        </p:nvSpPr>
        <p:spPr>
          <a:xfrm>
            <a:off x="192500" y="920075"/>
            <a:ext cx="8009400" cy="3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Century Schoolbook" panose="02040604050505020304" pitchFamily="18" charset="0"/>
              </a:rPr>
              <a:t>Scikit-Learn Documentation</a:t>
            </a:r>
            <a:r>
              <a:rPr lang="en-US" dirty="0">
                <a:latin typeface="Century Schoolbook" panose="02040604050505020304" pitchFamily="18" charset="0"/>
              </a:rPr>
              <a:t>: Comprehensive guide on the </a:t>
            </a:r>
            <a:r>
              <a:rPr lang="en-US" dirty="0" err="1">
                <a:latin typeface="Century Schoolbook" panose="02040604050505020304" pitchFamily="18" charset="0"/>
              </a:rPr>
              <a:t>KMeans</a:t>
            </a:r>
            <a:r>
              <a:rPr lang="en-US" dirty="0">
                <a:latin typeface="Century Schoolbook" panose="02040604050505020304" pitchFamily="18" charset="0"/>
              </a:rPr>
              <a:t> algorithm and </a:t>
            </a:r>
            <a:r>
              <a:rPr lang="en-US" dirty="0" err="1">
                <a:latin typeface="Century Schoolbook" panose="02040604050505020304" pitchFamily="18" charset="0"/>
              </a:rPr>
              <a:t>silhouette_score</a:t>
            </a:r>
            <a:r>
              <a:rPr lang="en-US" dirty="0">
                <a:latin typeface="Century Schoolbook" panose="02040604050505020304" pitchFamily="18" charset="0"/>
              </a:rPr>
              <a:t> metric implementation.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Century Schoolbook" panose="02040604050505020304" pitchFamily="18" charset="0"/>
              </a:rPr>
              <a:t>Pandas Documentation</a:t>
            </a:r>
            <a:r>
              <a:rPr lang="en-US" dirty="0">
                <a:latin typeface="Century Schoolbook" panose="02040604050505020304" pitchFamily="18" charset="0"/>
              </a:rPr>
              <a:t>: Official resource for data manipulation, CSV handling, and JSON serialization using Python.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Century Schoolbook" panose="02040604050505020304" pitchFamily="18" charset="0"/>
              </a:rPr>
              <a:t>Kaggle Datasets</a:t>
            </a:r>
            <a:r>
              <a:rPr lang="en-US" dirty="0">
                <a:latin typeface="Century Schoolbook" panose="02040604050505020304" pitchFamily="18" charset="0"/>
              </a:rPr>
              <a:t>: Source for the "Mall Customers" CSV, providing the demographic and behavioral data used for training.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Century Schoolbook" panose="02040604050505020304" pitchFamily="18" charset="0"/>
              </a:rPr>
              <a:t>UCI Machine Learning Repository</a:t>
            </a:r>
            <a:r>
              <a:rPr lang="en-US" dirty="0">
                <a:latin typeface="Century Schoolbook" panose="02040604050505020304" pitchFamily="18" charset="0"/>
              </a:rPr>
              <a:t>: Standard academic reference for clustering datasets and benchmarking unsupervised learning models.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 err="1">
                <a:latin typeface="Century Schoolbook" panose="02040604050505020304" pitchFamily="18" charset="0"/>
              </a:rPr>
              <a:t>StatQuest</a:t>
            </a:r>
            <a:r>
              <a:rPr lang="en-US" b="1" dirty="0">
                <a:latin typeface="Century Schoolbook" panose="02040604050505020304" pitchFamily="18" charset="0"/>
              </a:rPr>
              <a:t> with Josh Starmer</a:t>
            </a:r>
            <a:r>
              <a:rPr lang="en-US" dirty="0">
                <a:latin typeface="Century Schoolbook" panose="02040604050505020304" pitchFamily="18" charset="0"/>
              </a:rPr>
              <a:t>: Technical video resource explaining the mathematical intuition behind K-Means and the WCSS objective function.</a:t>
            </a:r>
          </a:p>
          <a:p>
            <a:r>
              <a:rPr lang="en-GB" dirty="0"/>
              <a:t> 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ew">
  <a:themeElements>
    <a:clrScheme name="Orange Red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553</Words>
  <Application>Microsoft Office PowerPoint</Application>
  <PresentationFormat>On-screen Show (16:9)</PresentationFormat>
  <Paragraphs>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Times New Roman</vt:lpstr>
      <vt:lpstr>Century Schoolbook</vt:lpstr>
      <vt:lpstr>Wingdings</vt:lpstr>
      <vt:lpstr>Poppins Medium</vt:lpstr>
      <vt:lpstr>Arial</vt:lpstr>
      <vt:lpstr>Simple Light</vt:lpstr>
      <vt:lpstr>View</vt:lpstr>
      <vt:lpstr>CLUSTER 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Shylendhar M</dc:creator>
  <cp:lastModifiedBy>Shylendhar M</cp:lastModifiedBy>
  <cp:revision>2</cp:revision>
  <dcterms:modified xsi:type="dcterms:W3CDTF">2026-04-11T07:58:00Z</dcterms:modified>
</cp:coreProperties>
</file>